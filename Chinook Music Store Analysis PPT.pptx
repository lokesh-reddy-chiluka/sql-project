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4"/>
  </p:sldMasterIdLst>
  <p:notesMasterIdLst>
    <p:notesMasterId r:id="rId22"/>
  </p:notesMasterIdLst>
  <p:sldIdLst>
    <p:sldId id="298" r:id="rId5"/>
    <p:sldId id="299" r:id="rId6"/>
    <p:sldId id="300" r:id="rId7"/>
    <p:sldId id="303" r:id="rId8"/>
    <p:sldId id="302" r:id="rId9"/>
    <p:sldId id="305" r:id="rId10"/>
    <p:sldId id="315" r:id="rId11"/>
    <p:sldId id="306" r:id="rId12"/>
    <p:sldId id="304" r:id="rId13"/>
    <p:sldId id="307" r:id="rId14"/>
    <p:sldId id="308" r:id="rId15"/>
    <p:sldId id="309" r:id="rId16"/>
    <p:sldId id="310" r:id="rId17"/>
    <p:sldId id="311" r:id="rId18"/>
    <p:sldId id="313" r:id="rId19"/>
    <p:sldId id="317" r:id="rId20"/>
    <p:sldId id="31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51E0E-D55C-4E95-893B-3915CACE9E70}" v="5" dt="2026-03-22T06:24:01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REDDY CHILUKA" userId="ded8c6f2afd30af3" providerId="LiveId" clId="{5F469777-6EA0-4EF1-AD85-0143D1F59D15}"/>
    <pc:docChg chg="undo custSel modSld">
      <pc:chgData name="LOKESH REDDY CHILUKA" userId="ded8c6f2afd30af3" providerId="LiveId" clId="{5F469777-6EA0-4EF1-AD85-0143D1F59D15}" dt="2026-03-22T06:39:02.691" v="261" actId="255"/>
      <pc:docMkLst>
        <pc:docMk/>
      </pc:docMkLst>
      <pc:sldChg chg="modSp mod">
        <pc:chgData name="LOKESH REDDY CHILUKA" userId="ded8c6f2afd30af3" providerId="LiveId" clId="{5F469777-6EA0-4EF1-AD85-0143D1F59D15}" dt="2026-03-22T06:20:33.363" v="200" actId="1036"/>
        <pc:sldMkLst>
          <pc:docMk/>
          <pc:sldMk cId="4042477574" sldId="299"/>
        </pc:sldMkLst>
        <pc:spChg chg="mod">
          <ac:chgData name="LOKESH REDDY CHILUKA" userId="ded8c6f2afd30af3" providerId="LiveId" clId="{5F469777-6EA0-4EF1-AD85-0143D1F59D15}" dt="2026-03-22T06:20:33.363" v="200" actId="1036"/>
          <ac:spMkLst>
            <pc:docMk/>
            <pc:sldMk cId="4042477574" sldId="299"/>
            <ac:spMk id="2" creationId="{53F3C7E8-2F70-0136-149E-9C77BF4B6C88}"/>
          </ac:spMkLst>
        </pc:spChg>
        <pc:spChg chg="mod">
          <ac:chgData name="LOKESH REDDY CHILUKA" userId="ded8c6f2afd30af3" providerId="LiveId" clId="{5F469777-6EA0-4EF1-AD85-0143D1F59D15}" dt="2026-03-22T06:20:28.757" v="197" actId="1076"/>
          <ac:spMkLst>
            <pc:docMk/>
            <pc:sldMk cId="4042477574" sldId="299"/>
            <ac:spMk id="3" creationId="{1988596E-666C-5B7B-29D9-0D99D8AA7D91}"/>
          </ac:spMkLst>
        </pc:spChg>
      </pc:sldChg>
      <pc:sldChg chg="modSp mod">
        <pc:chgData name="LOKESH REDDY CHILUKA" userId="ded8c6f2afd30af3" providerId="LiveId" clId="{5F469777-6EA0-4EF1-AD85-0143D1F59D15}" dt="2026-03-22T06:22:41.470" v="204" actId="14100"/>
        <pc:sldMkLst>
          <pc:docMk/>
          <pc:sldMk cId="825846806" sldId="300"/>
        </pc:sldMkLst>
        <pc:spChg chg="mod">
          <ac:chgData name="LOKESH REDDY CHILUKA" userId="ded8c6f2afd30af3" providerId="LiveId" clId="{5F469777-6EA0-4EF1-AD85-0143D1F59D15}" dt="2026-03-22T06:22:41.470" v="204" actId="14100"/>
          <ac:spMkLst>
            <pc:docMk/>
            <pc:sldMk cId="825846806" sldId="300"/>
            <ac:spMk id="2" creationId="{6AA94814-8BA9-80A2-B2FB-B99D1E1F4466}"/>
          </ac:spMkLst>
        </pc:spChg>
        <pc:spChg chg="mod">
          <ac:chgData name="LOKESH REDDY CHILUKA" userId="ded8c6f2afd30af3" providerId="LiveId" clId="{5F469777-6EA0-4EF1-AD85-0143D1F59D15}" dt="2026-03-22T06:22:19.294" v="202" actId="1076"/>
          <ac:spMkLst>
            <pc:docMk/>
            <pc:sldMk cId="825846806" sldId="300"/>
            <ac:spMk id="4" creationId="{A71A5B00-2D97-B141-D12D-9AA93FEFC47D}"/>
          </ac:spMkLst>
        </pc:spChg>
      </pc:sldChg>
      <pc:sldChg chg="modSp mod">
        <pc:chgData name="LOKESH REDDY CHILUKA" userId="ded8c6f2afd30af3" providerId="LiveId" clId="{5F469777-6EA0-4EF1-AD85-0143D1F59D15}" dt="2026-03-22T06:23:18.797" v="209" actId="14100"/>
        <pc:sldMkLst>
          <pc:docMk/>
          <pc:sldMk cId="3189463955" sldId="303"/>
        </pc:sldMkLst>
        <pc:spChg chg="mod">
          <ac:chgData name="LOKESH REDDY CHILUKA" userId="ded8c6f2afd30af3" providerId="LiveId" clId="{5F469777-6EA0-4EF1-AD85-0143D1F59D15}" dt="2026-03-22T06:23:18.797" v="209" actId="14100"/>
          <ac:spMkLst>
            <pc:docMk/>
            <pc:sldMk cId="3189463955" sldId="303"/>
            <ac:spMk id="2" creationId="{405413DA-67D2-1785-759D-82B2F985870F}"/>
          </ac:spMkLst>
        </pc:spChg>
        <pc:spChg chg="mod">
          <ac:chgData name="LOKESH REDDY CHILUKA" userId="ded8c6f2afd30af3" providerId="LiveId" clId="{5F469777-6EA0-4EF1-AD85-0143D1F59D15}" dt="2026-03-22T06:23:12.432" v="208" actId="14100"/>
          <ac:spMkLst>
            <pc:docMk/>
            <pc:sldMk cId="3189463955" sldId="303"/>
            <ac:spMk id="3" creationId="{78972707-9355-9E2B-0E57-5AA6A315C522}"/>
          </ac:spMkLst>
        </pc:spChg>
      </pc:sldChg>
      <pc:sldChg chg="modSp mod">
        <pc:chgData name="LOKESH REDDY CHILUKA" userId="ded8c6f2afd30af3" providerId="LiveId" clId="{5F469777-6EA0-4EF1-AD85-0143D1F59D15}" dt="2026-03-22T06:25:22.895" v="221" actId="255"/>
        <pc:sldMkLst>
          <pc:docMk/>
          <pc:sldMk cId="2855210641" sldId="304"/>
        </pc:sldMkLst>
        <pc:spChg chg="mod">
          <ac:chgData name="LOKESH REDDY CHILUKA" userId="ded8c6f2afd30af3" providerId="LiveId" clId="{5F469777-6EA0-4EF1-AD85-0143D1F59D15}" dt="2026-03-22T06:13:28.351" v="19" actId="255"/>
          <ac:spMkLst>
            <pc:docMk/>
            <pc:sldMk cId="2855210641" sldId="304"/>
            <ac:spMk id="3" creationId="{EC4F7454-10FC-37FA-B377-0E01063F4786}"/>
          </ac:spMkLst>
        </pc:spChg>
        <pc:spChg chg="mod">
          <ac:chgData name="LOKESH REDDY CHILUKA" userId="ded8c6f2afd30af3" providerId="LiveId" clId="{5F469777-6EA0-4EF1-AD85-0143D1F59D15}" dt="2026-03-22T06:25:22.895" v="221" actId="255"/>
          <ac:spMkLst>
            <pc:docMk/>
            <pc:sldMk cId="2855210641" sldId="304"/>
            <ac:spMk id="4" creationId="{B2773C56-122E-1C69-2BE5-1E50DDB8041D}"/>
          </ac:spMkLst>
        </pc:spChg>
      </pc:sldChg>
      <pc:sldChg chg="modSp mod">
        <pc:chgData name="LOKESH REDDY CHILUKA" userId="ded8c6f2afd30af3" providerId="LiveId" clId="{5F469777-6EA0-4EF1-AD85-0143D1F59D15}" dt="2026-03-22T06:24:01.749" v="213" actId="1076"/>
        <pc:sldMkLst>
          <pc:docMk/>
          <pc:sldMk cId="2927427097" sldId="305"/>
        </pc:sldMkLst>
        <pc:spChg chg="mod">
          <ac:chgData name="LOKESH REDDY CHILUKA" userId="ded8c6f2afd30af3" providerId="LiveId" clId="{5F469777-6EA0-4EF1-AD85-0143D1F59D15}" dt="2026-03-22T06:23:34.259" v="210" actId="255"/>
          <ac:spMkLst>
            <pc:docMk/>
            <pc:sldMk cId="2927427097" sldId="305"/>
            <ac:spMk id="2" creationId="{66261F65-854B-C8E7-8D9F-1FC0114F781F}"/>
          </ac:spMkLst>
        </pc:spChg>
        <pc:spChg chg="mod">
          <ac:chgData name="LOKESH REDDY CHILUKA" userId="ded8c6f2afd30af3" providerId="LiveId" clId="{5F469777-6EA0-4EF1-AD85-0143D1F59D15}" dt="2026-03-22T06:24:01.749" v="213" actId="1076"/>
          <ac:spMkLst>
            <pc:docMk/>
            <pc:sldMk cId="2927427097" sldId="305"/>
            <ac:spMk id="4" creationId="{F8485D89-96F7-EEED-E620-45576E5187B6}"/>
          </ac:spMkLst>
        </pc:spChg>
      </pc:sldChg>
      <pc:sldChg chg="modSp mod">
        <pc:chgData name="LOKESH REDDY CHILUKA" userId="ded8c6f2afd30af3" providerId="LiveId" clId="{5F469777-6EA0-4EF1-AD85-0143D1F59D15}" dt="2026-03-22T06:25:06.254" v="220" actId="14100"/>
        <pc:sldMkLst>
          <pc:docMk/>
          <pc:sldMk cId="2635552959" sldId="306"/>
        </pc:sldMkLst>
        <pc:spChg chg="mod">
          <ac:chgData name="LOKESH REDDY CHILUKA" userId="ded8c6f2afd30af3" providerId="LiveId" clId="{5F469777-6EA0-4EF1-AD85-0143D1F59D15}" dt="2026-03-22T06:25:06.254" v="220" actId="14100"/>
          <ac:spMkLst>
            <pc:docMk/>
            <pc:sldMk cId="2635552959" sldId="306"/>
            <ac:spMk id="2" creationId="{E0E2E5C9-910D-5835-A721-FBF0E9E8DF3D}"/>
          </ac:spMkLst>
        </pc:spChg>
        <pc:spChg chg="mod">
          <ac:chgData name="LOKESH REDDY CHILUKA" userId="ded8c6f2afd30af3" providerId="LiveId" clId="{5F469777-6EA0-4EF1-AD85-0143D1F59D15}" dt="2026-03-22T06:25:00.087" v="219" actId="255"/>
          <ac:spMkLst>
            <pc:docMk/>
            <pc:sldMk cId="2635552959" sldId="306"/>
            <ac:spMk id="5" creationId="{9D5E1F61-9992-9F9F-71AD-6A9B74DC51B9}"/>
          </ac:spMkLst>
        </pc:spChg>
      </pc:sldChg>
      <pc:sldChg chg="modSp mod">
        <pc:chgData name="LOKESH REDDY CHILUKA" userId="ded8c6f2afd30af3" providerId="LiveId" clId="{5F469777-6EA0-4EF1-AD85-0143D1F59D15}" dt="2026-03-22T06:25:38.025" v="223" actId="1076"/>
        <pc:sldMkLst>
          <pc:docMk/>
          <pc:sldMk cId="1489142772" sldId="307"/>
        </pc:sldMkLst>
        <pc:spChg chg="mod">
          <ac:chgData name="LOKESH REDDY CHILUKA" userId="ded8c6f2afd30af3" providerId="LiveId" clId="{5F469777-6EA0-4EF1-AD85-0143D1F59D15}" dt="2026-03-22T06:25:38.025" v="223" actId="1076"/>
          <ac:spMkLst>
            <pc:docMk/>
            <pc:sldMk cId="1489142772" sldId="307"/>
            <ac:spMk id="3" creationId="{596CB729-1837-0938-F6A1-A8D1B3D6B999}"/>
          </ac:spMkLst>
        </pc:spChg>
        <pc:spChg chg="mod">
          <ac:chgData name="LOKESH REDDY CHILUKA" userId="ded8c6f2afd30af3" providerId="LiveId" clId="{5F469777-6EA0-4EF1-AD85-0143D1F59D15}" dt="2026-03-22T06:13:42.849" v="20" actId="255"/>
          <ac:spMkLst>
            <pc:docMk/>
            <pc:sldMk cId="1489142772" sldId="307"/>
            <ac:spMk id="4" creationId="{CAE63AAA-7C07-8EF5-7A2E-97FD87935B9A}"/>
          </ac:spMkLst>
        </pc:spChg>
      </pc:sldChg>
      <pc:sldChg chg="modSp mod">
        <pc:chgData name="LOKESH REDDY CHILUKA" userId="ded8c6f2afd30af3" providerId="LiveId" clId="{5F469777-6EA0-4EF1-AD85-0143D1F59D15}" dt="2026-03-22T06:26:23.289" v="227" actId="14100"/>
        <pc:sldMkLst>
          <pc:docMk/>
          <pc:sldMk cId="1674047870" sldId="308"/>
        </pc:sldMkLst>
        <pc:spChg chg="mod">
          <ac:chgData name="LOKESH REDDY CHILUKA" userId="ded8c6f2afd30af3" providerId="LiveId" clId="{5F469777-6EA0-4EF1-AD85-0143D1F59D15}" dt="2026-03-22T06:26:12.196" v="225" actId="1076"/>
          <ac:spMkLst>
            <pc:docMk/>
            <pc:sldMk cId="1674047870" sldId="308"/>
            <ac:spMk id="3" creationId="{4E7AA25D-FE03-017C-0AC6-D3E7F5262CB0}"/>
          </ac:spMkLst>
        </pc:spChg>
        <pc:spChg chg="mod">
          <ac:chgData name="LOKESH REDDY CHILUKA" userId="ded8c6f2afd30af3" providerId="LiveId" clId="{5F469777-6EA0-4EF1-AD85-0143D1F59D15}" dt="2026-03-22T06:26:23.289" v="227" actId="14100"/>
          <ac:spMkLst>
            <pc:docMk/>
            <pc:sldMk cId="1674047870" sldId="308"/>
            <ac:spMk id="4" creationId="{76FD9CF7-703C-F718-BFB3-71DB502BB72A}"/>
          </ac:spMkLst>
        </pc:spChg>
        <pc:picChg chg="mod">
          <ac:chgData name="LOKESH REDDY CHILUKA" userId="ded8c6f2afd30af3" providerId="LiveId" clId="{5F469777-6EA0-4EF1-AD85-0143D1F59D15}" dt="2026-03-22T06:26:17.697" v="226" actId="1076"/>
          <ac:picMkLst>
            <pc:docMk/>
            <pc:sldMk cId="1674047870" sldId="308"/>
            <ac:picMk id="2" creationId="{F621860C-11CF-8682-CB93-E54143777B59}"/>
          </ac:picMkLst>
        </pc:picChg>
      </pc:sldChg>
      <pc:sldChg chg="modSp mod">
        <pc:chgData name="LOKESH REDDY CHILUKA" userId="ded8c6f2afd30af3" providerId="LiveId" clId="{5F469777-6EA0-4EF1-AD85-0143D1F59D15}" dt="2026-03-22T06:26:56.469" v="231" actId="1076"/>
        <pc:sldMkLst>
          <pc:docMk/>
          <pc:sldMk cId="342747238" sldId="309"/>
        </pc:sldMkLst>
        <pc:spChg chg="mod">
          <ac:chgData name="LOKESH REDDY CHILUKA" userId="ded8c6f2afd30af3" providerId="LiveId" clId="{5F469777-6EA0-4EF1-AD85-0143D1F59D15}" dt="2026-03-22T06:26:56.469" v="231" actId="1076"/>
          <ac:spMkLst>
            <pc:docMk/>
            <pc:sldMk cId="342747238" sldId="309"/>
            <ac:spMk id="3" creationId="{279EFE51-15AE-B25C-A1E3-2126D41722E3}"/>
          </ac:spMkLst>
        </pc:spChg>
        <pc:spChg chg="mod">
          <ac:chgData name="LOKESH REDDY CHILUKA" userId="ded8c6f2afd30af3" providerId="LiveId" clId="{5F469777-6EA0-4EF1-AD85-0143D1F59D15}" dt="2026-03-22T06:26:38.777" v="228" actId="14100"/>
          <ac:spMkLst>
            <pc:docMk/>
            <pc:sldMk cId="342747238" sldId="309"/>
            <ac:spMk id="4" creationId="{99F629A9-45B7-CA1A-76D5-F4B9C5EC1253}"/>
          </ac:spMkLst>
        </pc:spChg>
        <pc:picChg chg="mod">
          <ac:chgData name="LOKESH REDDY CHILUKA" userId="ded8c6f2afd30af3" providerId="LiveId" clId="{5F469777-6EA0-4EF1-AD85-0143D1F59D15}" dt="2026-03-22T06:14:46.424" v="28" actId="1076"/>
          <ac:picMkLst>
            <pc:docMk/>
            <pc:sldMk cId="342747238" sldId="309"/>
            <ac:picMk id="2" creationId="{D2C74035-50C0-9F7C-FD71-47EF9CF441A2}"/>
          </ac:picMkLst>
        </pc:picChg>
      </pc:sldChg>
      <pc:sldChg chg="modSp mod">
        <pc:chgData name="LOKESH REDDY CHILUKA" userId="ded8c6f2afd30af3" providerId="LiveId" clId="{5F469777-6EA0-4EF1-AD85-0143D1F59D15}" dt="2026-03-22T06:27:45.928" v="236" actId="255"/>
        <pc:sldMkLst>
          <pc:docMk/>
          <pc:sldMk cId="2883349000" sldId="310"/>
        </pc:sldMkLst>
        <pc:spChg chg="mod">
          <ac:chgData name="LOKESH REDDY CHILUKA" userId="ded8c6f2afd30af3" providerId="LiveId" clId="{5F469777-6EA0-4EF1-AD85-0143D1F59D15}" dt="2026-03-22T06:15:51.172" v="35" actId="255"/>
          <ac:spMkLst>
            <pc:docMk/>
            <pc:sldMk cId="2883349000" sldId="310"/>
            <ac:spMk id="3" creationId="{8BF7F4FE-8B28-9B00-B5E1-75E83B65274D}"/>
          </ac:spMkLst>
        </pc:spChg>
        <pc:spChg chg="mod">
          <ac:chgData name="LOKESH REDDY CHILUKA" userId="ded8c6f2afd30af3" providerId="LiveId" clId="{5F469777-6EA0-4EF1-AD85-0143D1F59D15}" dt="2026-03-22T06:27:19.558" v="233" actId="1076"/>
          <ac:spMkLst>
            <pc:docMk/>
            <pc:sldMk cId="2883349000" sldId="310"/>
            <ac:spMk id="4" creationId="{60905690-764E-0341-1F39-CBF5AC7C2733}"/>
          </ac:spMkLst>
        </pc:spChg>
        <pc:spChg chg="mod">
          <ac:chgData name="LOKESH REDDY CHILUKA" userId="ded8c6f2afd30af3" providerId="LiveId" clId="{5F469777-6EA0-4EF1-AD85-0143D1F59D15}" dt="2026-03-22T06:27:45.928" v="236" actId="255"/>
          <ac:spMkLst>
            <pc:docMk/>
            <pc:sldMk cId="2883349000" sldId="310"/>
            <ac:spMk id="5" creationId="{2F80253F-77F0-28AF-768D-D176D40E76CA}"/>
          </ac:spMkLst>
        </pc:spChg>
        <pc:spChg chg="mod">
          <ac:chgData name="LOKESH REDDY CHILUKA" userId="ded8c6f2afd30af3" providerId="LiveId" clId="{5F469777-6EA0-4EF1-AD85-0143D1F59D15}" dt="2026-03-22T06:27:37.404" v="235" actId="1076"/>
          <ac:spMkLst>
            <pc:docMk/>
            <pc:sldMk cId="2883349000" sldId="310"/>
            <ac:spMk id="6" creationId="{57F7B8BB-33C7-339D-4BE0-A2C43B5DC31B}"/>
          </ac:spMkLst>
        </pc:spChg>
        <pc:picChg chg="mod">
          <ac:chgData name="LOKESH REDDY CHILUKA" userId="ded8c6f2afd30af3" providerId="LiveId" clId="{5F469777-6EA0-4EF1-AD85-0143D1F59D15}" dt="2026-03-22T06:27:28.166" v="234" actId="1076"/>
          <ac:picMkLst>
            <pc:docMk/>
            <pc:sldMk cId="2883349000" sldId="310"/>
            <ac:picMk id="2" creationId="{C5164BFE-924F-8C8D-CC07-94A0A735B164}"/>
          </ac:picMkLst>
        </pc:picChg>
      </pc:sldChg>
      <pc:sldChg chg="delSp modSp mod">
        <pc:chgData name="LOKESH REDDY CHILUKA" userId="ded8c6f2afd30af3" providerId="LiveId" clId="{5F469777-6EA0-4EF1-AD85-0143D1F59D15}" dt="2026-03-22T06:33:16.401" v="237" actId="1036"/>
        <pc:sldMkLst>
          <pc:docMk/>
          <pc:sldMk cId="1030069954" sldId="311"/>
        </pc:sldMkLst>
        <pc:spChg chg="mod">
          <ac:chgData name="LOKESH REDDY CHILUKA" userId="ded8c6f2afd30af3" providerId="LiveId" clId="{5F469777-6EA0-4EF1-AD85-0143D1F59D15}" dt="2026-03-22T06:17:42.881" v="50" actId="255"/>
          <ac:spMkLst>
            <pc:docMk/>
            <pc:sldMk cId="1030069954" sldId="311"/>
            <ac:spMk id="3" creationId="{AA770CA5-888B-FC8E-77E3-4BE02EB7E5FC}"/>
          </ac:spMkLst>
        </pc:spChg>
        <pc:spChg chg="del mod">
          <ac:chgData name="LOKESH REDDY CHILUKA" userId="ded8c6f2afd30af3" providerId="LiveId" clId="{5F469777-6EA0-4EF1-AD85-0143D1F59D15}" dt="2026-03-22T06:18:50.980" v="186"/>
          <ac:spMkLst>
            <pc:docMk/>
            <pc:sldMk cId="1030069954" sldId="311"/>
            <ac:spMk id="4" creationId="{FB41D394-AE20-AFFE-4B49-CADDD1E84922}"/>
          </ac:spMkLst>
        </pc:spChg>
        <pc:spChg chg="mod">
          <ac:chgData name="LOKESH REDDY CHILUKA" userId="ded8c6f2afd30af3" providerId="LiveId" clId="{5F469777-6EA0-4EF1-AD85-0143D1F59D15}" dt="2026-03-22T06:18:49.600" v="184" actId="1076"/>
          <ac:spMkLst>
            <pc:docMk/>
            <pc:sldMk cId="1030069954" sldId="311"/>
            <ac:spMk id="5" creationId="{2BFE5379-C369-A39F-9119-32168A50398B}"/>
          </ac:spMkLst>
        </pc:spChg>
        <pc:spChg chg="mod">
          <ac:chgData name="LOKESH REDDY CHILUKA" userId="ded8c6f2afd30af3" providerId="LiveId" clId="{5F469777-6EA0-4EF1-AD85-0143D1F59D15}" dt="2026-03-22T06:18:19.481" v="64" actId="1076"/>
          <ac:spMkLst>
            <pc:docMk/>
            <pc:sldMk cId="1030069954" sldId="311"/>
            <ac:spMk id="6" creationId="{1C10F625-9A81-2C0D-2669-D4736D7211E1}"/>
          </ac:spMkLst>
        </pc:spChg>
        <pc:picChg chg="mod">
          <ac:chgData name="LOKESH REDDY CHILUKA" userId="ded8c6f2afd30af3" providerId="LiveId" clId="{5F469777-6EA0-4EF1-AD85-0143D1F59D15}" dt="2026-03-22T06:33:16.401" v="237" actId="1036"/>
          <ac:picMkLst>
            <pc:docMk/>
            <pc:sldMk cId="1030069954" sldId="311"/>
            <ac:picMk id="2" creationId="{11EEF96F-9196-5783-6080-705C28EA35C6}"/>
          </ac:picMkLst>
        </pc:picChg>
      </pc:sldChg>
      <pc:sldChg chg="modSp mod">
        <pc:chgData name="LOKESH REDDY CHILUKA" userId="ded8c6f2afd30af3" providerId="LiveId" clId="{5F469777-6EA0-4EF1-AD85-0143D1F59D15}" dt="2026-03-22T06:19:28.589" v="189" actId="255"/>
        <pc:sldMkLst>
          <pc:docMk/>
          <pc:sldMk cId="3913359198" sldId="313"/>
        </pc:sldMkLst>
        <pc:spChg chg="mod">
          <ac:chgData name="LOKESH REDDY CHILUKA" userId="ded8c6f2afd30af3" providerId="LiveId" clId="{5F469777-6EA0-4EF1-AD85-0143D1F59D15}" dt="2026-03-22T06:19:28.589" v="189" actId="255"/>
          <ac:spMkLst>
            <pc:docMk/>
            <pc:sldMk cId="3913359198" sldId="313"/>
            <ac:spMk id="3" creationId="{5F9AB1D3-5E9C-032C-3007-D63EAB6AD845}"/>
          </ac:spMkLst>
        </pc:spChg>
      </pc:sldChg>
      <pc:sldChg chg="modSp mod">
        <pc:chgData name="LOKESH REDDY CHILUKA" userId="ded8c6f2afd30af3" providerId="LiveId" clId="{5F469777-6EA0-4EF1-AD85-0143D1F59D15}" dt="2026-03-22T06:24:40.735" v="217" actId="14100"/>
        <pc:sldMkLst>
          <pc:docMk/>
          <pc:sldMk cId="2066467366" sldId="315"/>
        </pc:sldMkLst>
        <pc:spChg chg="mod">
          <ac:chgData name="LOKESH REDDY CHILUKA" userId="ded8c6f2afd30af3" providerId="LiveId" clId="{5F469777-6EA0-4EF1-AD85-0143D1F59D15}" dt="2026-03-22T06:24:28.386" v="216" actId="1076"/>
          <ac:spMkLst>
            <pc:docMk/>
            <pc:sldMk cId="2066467366" sldId="315"/>
            <ac:spMk id="3" creationId="{F02CADB5-B863-5BF8-19C4-73309A4A9F87}"/>
          </ac:spMkLst>
        </pc:spChg>
        <pc:spChg chg="mod">
          <ac:chgData name="LOKESH REDDY CHILUKA" userId="ded8c6f2afd30af3" providerId="LiveId" clId="{5F469777-6EA0-4EF1-AD85-0143D1F59D15}" dt="2026-03-22T06:24:40.735" v="217" actId="14100"/>
          <ac:spMkLst>
            <pc:docMk/>
            <pc:sldMk cId="2066467366" sldId="315"/>
            <ac:spMk id="4" creationId="{B197302D-BD92-1DF8-46B9-007119665636}"/>
          </ac:spMkLst>
        </pc:spChg>
      </pc:sldChg>
      <pc:sldChg chg="modSp mod">
        <pc:chgData name="LOKESH REDDY CHILUKA" userId="ded8c6f2afd30af3" providerId="LiveId" clId="{5F469777-6EA0-4EF1-AD85-0143D1F59D15}" dt="2026-03-22T06:39:02.691" v="261" actId="255"/>
        <pc:sldMkLst>
          <pc:docMk/>
          <pc:sldMk cId="3079205632" sldId="316"/>
        </pc:sldMkLst>
        <pc:spChg chg="mod">
          <ac:chgData name="LOKESH REDDY CHILUKA" userId="ded8c6f2afd30af3" providerId="LiveId" clId="{5F469777-6EA0-4EF1-AD85-0143D1F59D15}" dt="2026-03-22T06:39:02.691" v="261" actId="255"/>
          <ac:spMkLst>
            <pc:docMk/>
            <pc:sldMk cId="3079205632" sldId="316"/>
            <ac:spMk id="2" creationId="{22352F7D-F6AE-12EC-0BE3-A55A1862BD02}"/>
          </ac:spMkLst>
        </pc:spChg>
        <pc:picChg chg="mod">
          <ac:chgData name="LOKESH REDDY CHILUKA" userId="ded8c6f2afd30af3" providerId="LiveId" clId="{5F469777-6EA0-4EF1-AD85-0143D1F59D15}" dt="2026-03-22T06:38:29.020" v="258" actId="1076"/>
          <ac:picMkLst>
            <pc:docMk/>
            <pc:sldMk cId="3079205632" sldId="316"/>
            <ac:picMk id="3" creationId="{EA05D983-C196-C098-D4B4-27F7E011F68A}"/>
          </ac:picMkLst>
        </pc:picChg>
      </pc:sldChg>
      <pc:sldChg chg="modSp mod">
        <pc:chgData name="LOKESH REDDY CHILUKA" userId="ded8c6f2afd30af3" providerId="LiveId" clId="{5F469777-6EA0-4EF1-AD85-0143D1F59D15}" dt="2026-03-22T06:36:27.732" v="241" actId="20577"/>
        <pc:sldMkLst>
          <pc:docMk/>
          <pc:sldMk cId="1126959872" sldId="317"/>
        </pc:sldMkLst>
        <pc:spChg chg="mod">
          <ac:chgData name="LOKESH REDDY CHILUKA" userId="ded8c6f2afd30af3" providerId="LiveId" clId="{5F469777-6EA0-4EF1-AD85-0143D1F59D15}" dt="2026-03-22T06:20:01.581" v="193" actId="14100"/>
          <ac:spMkLst>
            <pc:docMk/>
            <pc:sldMk cId="1126959872" sldId="317"/>
            <ac:spMk id="3" creationId="{5577508C-D15D-D130-002F-64BC7C0C8E79}"/>
          </ac:spMkLst>
        </pc:spChg>
        <pc:spChg chg="mod">
          <ac:chgData name="LOKESH REDDY CHILUKA" userId="ded8c6f2afd30af3" providerId="LiveId" clId="{5F469777-6EA0-4EF1-AD85-0143D1F59D15}" dt="2026-03-22T06:36:27.732" v="241" actId="20577"/>
          <ac:spMkLst>
            <pc:docMk/>
            <pc:sldMk cId="1126959872" sldId="317"/>
            <ac:spMk id="8" creationId="{D7E27B9E-1B8E-C5A7-C266-06BC9324469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FREEN\Desktop\chinookexcel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FREEN\Downloads\chinookexcel.xm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[chinookexcel1.xlsx]Sheet9!PivotTable24</c:name>
    <c:fmtId val="4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Country-wise invoices &amp; 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4044370019358435E-2"/>
          <c:y val="9.4401041666666671E-2"/>
          <c:w val="0.87927934347573067"/>
          <c:h val="0.70894028871391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Sheet9!$J$1</c:f>
              <c:strCache>
                <c:ptCount val="1"/>
                <c:pt idx="0">
                  <c:v>Average of num_invoices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Sheet9!$I$2:$I$26</c:f>
              <c:strCache>
                <c:ptCount val="24"/>
                <c:pt idx="0">
                  <c:v>Argentina</c:v>
                </c:pt>
                <c:pt idx="1">
                  <c:v>Australia</c:v>
                </c:pt>
                <c:pt idx="2">
                  <c:v>Austria</c:v>
                </c:pt>
                <c:pt idx="3">
                  <c:v>Belgium</c:v>
                </c:pt>
                <c:pt idx="4">
                  <c:v>Brazil</c:v>
                </c:pt>
                <c:pt idx="5">
                  <c:v>Canada</c:v>
                </c:pt>
                <c:pt idx="6">
                  <c:v>Chile</c:v>
                </c:pt>
                <c:pt idx="7">
                  <c:v>Czech Republic</c:v>
                </c:pt>
                <c:pt idx="8">
                  <c:v>Denmark</c:v>
                </c:pt>
                <c:pt idx="9">
                  <c:v>Finland</c:v>
                </c:pt>
                <c:pt idx="10">
                  <c:v>France</c:v>
                </c:pt>
                <c:pt idx="11">
                  <c:v>Germany</c:v>
                </c:pt>
                <c:pt idx="12">
                  <c:v>Hungary</c:v>
                </c:pt>
                <c:pt idx="13">
                  <c:v>India</c:v>
                </c:pt>
                <c:pt idx="14">
                  <c:v>Ireland</c:v>
                </c:pt>
                <c:pt idx="15">
                  <c:v>Italy</c:v>
                </c:pt>
                <c:pt idx="16">
                  <c:v>Netherlands</c:v>
                </c:pt>
                <c:pt idx="17">
                  <c:v>Norway</c:v>
                </c:pt>
                <c:pt idx="18">
                  <c:v>Poland</c:v>
                </c:pt>
                <c:pt idx="19">
                  <c:v>Portugal</c:v>
                </c:pt>
                <c:pt idx="20">
                  <c:v>Spain</c:v>
                </c:pt>
                <c:pt idx="21">
                  <c:v>Sweden</c:v>
                </c:pt>
                <c:pt idx="22">
                  <c:v>United Kingdom</c:v>
                </c:pt>
                <c:pt idx="23">
                  <c:v>USA</c:v>
                </c:pt>
              </c:strCache>
            </c:strRef>
          </c:cat>
          <c:val>
            <c:numRef>
              <c:f>Sheet9!$J$2:$J$26</c:f>
              <c:numCache>
                <c:formatCode>0</c:formatCode>
                <c:ptCount val="24"/>
                <c:pt idx="0">
                  <c:v>5</c:v>
                </c:pt>
                <c:pt idx="1">
                  <c:v>10</c:v>
                </c:pt>
                <c:pt idx="2">
                  <c:v>9</c:v>
                </c:pt>
                <c:pt idx="3">
                  <c:v>7</c:v>
                </c:pt>
                <c:pt idx="4">
                  <c:v>15.25</c:v>
                </c:pt>
                <c:pt idx="5">
                  <c:v>9.5</c:v>
                </c:pt>
                <c:pt idx="6">
                  <c:v>13</c:v>
                </c:pt>
                <c:pt idx="7">
                  <c:v>30</c:v>
                </c:pt>
                <c:pt idx="8">
                  <c:v>10</c:v>
                </c:pt>
                <c:pt idx="9">
                  <c:v>11</c:v>
                </c:pt>
                <c:pt idx="10">
                  <c:v>12.5</c:v>
                </c:pt>
                <c:pt idx="11">
                  <c:v>13.666666666666666</c:v>
                </c:pt>
                <c:pt idx="12">
                  <c:v>10</c:v>
                </c:pt>
                <c:pt idx="13">
                  <c:v>10.5</c:v>
                </c:pt>
                <c:pt idx="14">
                  <c:v>13</c:v>
                </c:pt>
                <c:pt idx="15">
                  <c:v>9</c:v>
                </c:pt>
                <c:pt idx="16">
                  <c:v>10</c:v>
                </c:pt>
                <c:pt idx="17">
                  <c:v>9</c:v>
                </c:pt>
                <c:pt idx="18">
                  <c:v>10</c:v>
                </c:pt>
                <c:pt idx="19">
                  <c:v>14.5</c:v>
                </c:pt>
                <c:pt idx="20">
                  <c:v>11</c:v>
                </c:pt>
                <c:pt idx="21">
                  <c:v>10</c:v>
                </c:pt>
                <c:pt idx="22">
                  <c:v>14</c:v>
                </c:pt>
                <c:pt idx="23">
                  <c:v>10.916666666666666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80-48C7-B08B-3BB8EC2FC1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012592976"/>
        <c:axId val="2012593456"/>
      </c:barChart>
      <c:barChart>
        <c:barDir val="col"/>
        <c:grouping val="clustered"/>
        <c:varyColors val="0"/>
        <c:ser>
          <c:idx val="1"/>
          <c:order val="1"/>
          <c:tx>
            <c:strRef>
              <c:f>Sheet9!$K$1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Sheet9!$I$2:$I$26</c:f>
              <c:strCache>
                <c:ptCount val="24"/>
                <c:pt idx="0">
                  <c:v>Argentina</c:v>
                </c:pt>
                <c:pt idx="1">
                  <c:v>Australia</c:v>
                </c:pt>
                <c:pt idx="2">
                  <c:v>Austria</c:v>
                </c:pt>
                <c:pt idx="3">
                  <c:v>Belgium</c:v>
                </c:pt>
                <c:pt idx="4">
                  <c:v>Brazil</c:v>
                </c:pt>
                <c:pt idx="5">
                  <c:v>Canada</c:v>
                </c:pt>
                <c:pt idx="6">
                  <c:v>Chile</c:v>
                </c:pt>
                <c:pt idx="7">
                  <c:v>Czech Republic</c:v>
                </c:pt>
                <c:pt idx="8">
                  <c:v>Denmark</c:v>
                </c:pt>
                <c:pt idx="9">
                  <c:v>Finland</c:v>
                </c:pt>
                <c:pt idx="10">
                  <c:v>France</c:v>
                </c:pt>
                <c:pt idx="11">
                  <c:v>Germany</c:v>
                </c:pt>
                <c:pt idx="12">
                  <c:v>Hungary</c:v>
                </c:pt>
                <c:pt idx="13">
                  <c:v>India</c:v>
                </c:pt>
                <c:pt idx="14">
                  <c:v>Ireland</c:v>
                </c:pt>
                <c:pt idx="15">
                  <c:v>Italy</c:v>
                </c:pt>
                <c:pt idx="16">
                  <c:v>Netherlands</c:v>
                </c:pt>
                <c:pt idx="17">
                  <c:v>Norway</c:v>
                </c:pt>
                <c:pt idx="18">
                  <c:v>Poland</c:v>
                </c:pt>
                <c:pt idx="19">
                  <c:v>Portugal</c:v>
                </c:pt>
                <c:pt idx="20">
                  <c:v>Spain</c:v>
                </c:pt>
                <c:pt idx="21">
                  <c:v>Sweden</c:v>
                </c:pt>
                <c:pt idx="22">
                  <c:v>United Kingdom</c:v>
                </c:pt>
                <c:pt idx="23">
                  <c:v>USA</c:v>
                </c:pt>
              </c:strCache>
            </c:strRef>
          </c:cat>
          <c:val>
            <c:numRef>
              <c:f>Sheet9!$K$2:$K$26</c:f>
              <c:numCache>
                <c:formatCode>0</c:formatCode>
                <c:ptCount val="24"/>
                <c:pt idx="0">
                  <c:v>39.6</c:v>
                </c:pt>
                <c:pt idx="1">
                  <c:v>81.180000000000007</c:v>
                </c:pt>
                <c:pt idx="2">
                  <c:v>69.3</c:v>
                </c:pt>
                <c:pt idx="3">
                  <c:v>60.39</c:v>
                </c:pt>
                <c:pt idx="4">
                  <c:v>427.68</c:v>
                </c:pt>
                <c:pt idx="5">
                  <c:v>535.59</c:v>
                </c:pt>
                <c:pt idx="6">
                  <c:v>97.02</c:v>
                </c:pt>
                <c:pt idx="7">
                  <c:v>273.24</c:v>
                </c:pt>
                <c:pt idx="8">
                  <c:v>37.619999999999997</c:v>
                </c:pt>
                <c:pt idx="9">
                  <c:v>79.2</c:v>
                </c:pt>
                <c:pt idx="10">
                  <c:v>389.06999999999994</c:v>
                </c:pt>
                <c:pt idx="11">
                  <c:v>334.62</c:v>
                </c:pt>
                <c:pt idx="12">
                  <c:v>78.209999999999994</c:v>
                </c:pt>
                <c:pt idx="13">
                  <c:v>183.15</c:v>
                </c:pt>
                <c:pt idx="14">
                  <c:v>114.84</c:v>
                </c:pt>
                <c:pt idx="15">
                  <c:v>50.49</c:v>
                </c:pt>
                <c:pt idx="16">
                  <c:v>65.34</c:v>
                </c:pt>
                <c:pt idx="17">
                  <c:v>72.27</c:v>
                </c:pt>
                <c:pt idx="18">
                  <c:v>76.23</c:v>
                </c:pt>
                <c:pt idx="19">
                  <c:v>185.13</c:v>
                </c:pt>
                <c:pt idx="20">
                  <c:v>98.01</c:v>
                </c:pt>
                <c:pt idx="21">
                  <c:v>75.239999999999995</c:v>
                </c:pt>
                <c:pt idx="22">
                  <c:v>245.51999999999998</c:v>
                </c:pt>
                <c:pt idx="23">
                  <c:v>1040.49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80-48C7-B08B-3BB8EC2FC1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959348784"/>
        <c:axId val="2012589136"/>
      </c:barChart>
      <c:catAx>
        <c:axId val="2012592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2593456"/>
        <c:crosses val="autoZero"/>
        <c:auto val="1"/>
        <c:lblAlgn val="ctr"/>
        <c:lblOffset val="100"/>
        <c:noMultiLvlLbl val="0"/>
      </c:catAx>
      <c:valAx>
        <c:axId val="2012593456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2592976"/>
        <c:crosses val="autoZero"/>
        <c:crossBetween val="between"/>
      </c:valAx>
      <c:valAx>
        <c:axId val="2012589136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9348784"/>
        <c:crosses val="max"/>
        <c:crossBetween val="between"/>
      </c:valAx>
      <c:catAx>
        <c:axId val="1959348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125891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791851213910765"/>
          <c:y val="0.12851298219196702"/>
          <c:w val="0.2008407152230971"/>
          <c:h val="0.112052577093202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5875" cap="flat" cmpd="sng" algn="ctr">
      <a:solidFill>
        <a:schemeClr val="accent1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Top 3 best selling Albums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9465879265091868E-2"/>
          <c:y val="0.21651078021077003"/>
          <c:w val="0.52511809158805511"/>
          <c:h val="0.54901690454575713"/>
        </c:manualLayout>
      </c:layout>
      <c:doughnutChart>
        <c:varyColors val="1"/>
        <c:ser>
          <c:idx val="0"/>
          <c:order val="0"/>
          <c:tx>
            <c:strRef>
              <c:f>Table1!$C$1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DC-49AD-8CF1-ECFAEC9B69E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DC-49AD-8CF1-ECFAEC9B69E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DC-49AD-8CF1-ECFAEC9B69E7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multiLvlStrRef>
              <c:f>Table1!$A$2:$B$4</c:f>
              <c:multiLvlStrCache>
                <c:ptCount val="3"/>
                <c:lvl>
                  <c:pt idx="0">
                    <c:v>Jimi Hendrix</c:v>
                  </c:pt>
                  <c:pt idx="1">
                    <c:v>Nirvana</c:v>
                  </c:pt>
                  <c:pt idx="2">
                    <c:v>The Doors</c:v>
                  </c:pt>
                </c:lvl>
                <c:lvl>
                  <c:pt idx="0">
                    <c:v>Are You Experienced?</c:v>
                  </c:pt>
                  <c:pt idx="1">
                    <c:v>From The Muddy Banks Of The Wishkah [live]</c:v>
                  </c:pt>
                  <c:pt idx="2">
                    <c:v>The Doors</c:v>
                  </c:pt>
                </c:lvl>
              </c:multiLvlStrCache>
            </c:multiLvlStrRef>
          </c:cat>
          <c:val>
            <c:numRef>
              <c:f>Table1!$C$2:$C$4</c:f>
              <c:numCache>
                <c:formatCode>General</c:formatCode>
                <c:ptCount val="3"/>
                <c:pt idx="0">
                  <c:v>28</c:v>
                </c:pt>
                <c:pt idx="1">
                  <c:v>28</c:v>
                </c:pt>
                <c:pt idx="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DC-49AD-8CF1-ECFAEC9B69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923943396743061"/>
          <c:y val="0.51289695170721727"/>
          <c:w val="0.4063890275344475"/>
          <c:h val="0.484325092634098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5875" cap="flat" cmpd="sng" algn="ctr">
      <a:solidFill>
        <a:schemeClr val="accent2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74C31-89AD-4C1F-99B0-5EFB96284433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11F8E-2CC7-4444-A7A8-62ACF467C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0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11F8E-2CC7-4444-A7A8-62ACF467C45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6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401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37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16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09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55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65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36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311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6511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15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ilhouette-musical-note-clef-bass-3308227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27184-ms-powerpoint-photo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ixabay.com/en/silhouette-musical-note-clef-bass-330822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" y="151374"/>
            <a:ext cx="12192000" cy="611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5651" y="131710"/>
            <a:ext cx="3206446" cy="2503335"/>
          </a:xfrm>
        </p:spPr>
        <p:txBody>
          <a:bodyPr anchor="b">
            <a:normAutofit/>
          </a:bodyPr>
          <a:lstStyle/>
          <a:p>
            <a:r>
              <a:rPr lang="en-IN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CHINOOK MUSIC STORE ANALYSIS</a:t>
            </a:r>
            <a:endParaRPr lang="en-US" sz="4400" noProof="1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20B590-5171-6844-3593-F8710251B5FA}"/>
              </a:ext>
            </a:extLst>
          </p:cNvPr>
          <p:cNvSpPr/>
          <p:nvPr/>
        </p:nvSpPr>
        <p:spPr>
          <a:xfrm>
            <a:off x="7371833" y="5272548"/>
            <a:ext cx="3635926" cy="703515"/>
          </a:xfrm>
          <a:prstGeom prst="rect">
            <a:avLst/>
          </a:prstGeom>
          <a:solidFill>
            <a:schemeClr val="dk1">
              <a:alpha val="7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+mj-lt"/>
              </a:rPr>
              <a:t>Lokesh Reddy </a:t>
            </a:r>
            <a:r>
              <a:rPr lang="en-US" dirty="0" err="1">
                <a:latin typeface="+mj-lt"/>
              </a:rPr>
              <a:t>Chiluka</a:t>
            </a:r>
            <a:endParaRPr lang="en-US" dirty="0">
              <a:latin typeface="+mj-lt"/>
            </a:endParaRPr>
          </a:p>
          <a:p>
            <a:pPr algn="r"/>
            <a:r>
              <a:rPr lang="en-US" dirty="0">
                <a:latin typeface="+mj-lt"/>
              </a:rPr>
              <a:t>09-03-2026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C7E8-2F70-0136-149E-9C77BF4B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3361"/>
            <a:ext cx="10058400" cy="1450757"/>
          </a:xfrm>
        </p:spPr>
        <p:txBody>
          <a:bodyPr/>
          <a:lstStyle/>
          <a:p>
            <a:r>
              <a:rPr lang="en-US" sz="4800" noProof="1">
                <a:solidFill>
                  <a:schemeClr val="accent3"/>
                </a:solidFill>
              </a:rPr>
              <a:t>Agenda</a:t>
            </a:r>
            <a:endParaRPr lang="en-US" noProof="1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596E-666C-5B7B-29D9-0D99D8AA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0717"/>
            <a:ext cx="10058400" cy="41746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 Introduction &amp; 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 Data Overview &amp; Quality Check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 Sales Analysis: Top Tracks, Artists, Genres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 Global vs. USA Sales Trends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Customer Demographics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Purchase Behaviour &amp; Churn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Revenue by Country &amp; Region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Album Promotion Recommendations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Customer Segmentation &amp; CLV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Business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noProof="1">
                <a:latin typeface="Arial" panose="020B0604020202020204" pitchFamily="34" charset="0"/>
                <a:cs typeface="Arial" panose="020B0604020202020204" pitchFamily="34" charset="0"/>
              </a:rPr>
              <a:t> Conclusion &amp; Recommendations</a:t>
            </a:r>
          </a:p>
          <a:p>
            <a:endParaRPr lang="en-US" sz="1600" b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477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4814-8BA9-80A2-B2FB-B99D1E1F4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298" y="286603"/>
            <a:ext cx="10235382" cy="1450757"/>
          </a:xfrm>
        </p:spPr>
        <p:txBody>
          <a:bodyPr>
            <a:normAutofit/>
          </a:bodyPr>
          <a:lstStyle/>
          <a:p>
            <a:r>
              <a:rPr lang="en-US" sz="3600" noProof="1">
                <a:solidFill>
                  <a:schemeClr val="accent3"/>
                </a:solidFill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1A5B00-2D97-B141-D12D-9AA93FEFC4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0298" y="2041252"/>
            <a:ext cx="8918467" cy="297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Ensure data integrity by identifying and handling missing values and duplicates.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Discover top-selling tracks, artists, and genres in both USA and global markets.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customer demographics and purchasing behavior, including churn rate and frequency.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 total revenue and identify top customers by geographic region.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Recommend albums for promotion based on genre sales and customer interests.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Segment customers by purchase history to predict lifetime value and detect high-risk groups.</a:t>
            </a:r>
          </a:p>
        </p:txBody>
      </p:sp>
    </p:spTree>
    <p:extLst>
      <p:ext uri="{BB962C8B-B14F-4D97-AF65-F5344CB8AC3E}">
        <p14:creationId xmlns:p14="http://schemas.microsoft.com/office/powerpoint/2010/main" val="82584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13DA-67D2-1785-759D-82B2F985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647612"/>
            <a:ext cx="10119360" cy="1450757"/>
          </a:xfrm>
        </p:spPr>
        <p:txBody>
          <a:bodyPr>
            <a:noAutofit/>
          </a:bodyPr>
          <a:lstStyle/>
          <a:p>
            <a:br>
              <a:rPr lang="en-US" sz="3600" b="1" noProof="1">
                <a:solidFill>
                  <a:schemeClr val="accent3"/>
                </a:solidFill>
              </a:rPr>
            </a:br>
            <a:br>
              <a:rPr lang="en-US" sz="3600" b="1" noProof="1">
                <a:solidFill>
                  <a:schemeClr val="accent3"/>
                </a:solidFill>
              </a:rPr>
            </a:br>
            <a:br>
              <a:rPr lang="en-US" sz="3600" b="1" noProof="1">
                <a:solidFill>
                  <a:schemeClr val="accent3"/>
                </a:solidFill>
              </a:rPr>
            </a:br>
            <a:br>
              <a:rPr lang="en-US" sz="3600" b="1" noProof="1">
                <a:solidFill>
                  <a:schemeClr val="accent3"/>
                </a:solidFill>
              </a:rPr>
            </a:br>
            <a:br>
              <a:rPr lang="en-US" sz="3600" b="1" noProof="1">
                <a:solidFill>
                  <a:schemeClr val="accent3"/>
                </a:solidFill>
              </a:rPr>
            </a:br>
            <a:br>
              <a:rPr lang="en-US" sz="3600" b="1" noProof="1">
                <a:solidFill>
                  <a:schemeClr val="accent3"/>
                </a:solidFill>
              </a:rPr>
            </a:br>
            <a:br>
              <a:rPr lang="en-US" sz="3600" b="1" noProof="1">
                <a:solidFill>
                  <a:schemeClr val="accent3"/>
                </a:solidFill>
              </a:rPr>
            </a:br>
            <a:r>
              <a:rPr lang="en-US" sz="3600" noProof="1">
                <a:solidFill>
                  <a:schemeClr val="accent3"/>
                </a:solidFill>
              </a:rPr>
              <a:t>Dataset &amp; Tools</a:t>
            </a:r>
            <a:br>
              <a:rPr lang="en-US" sz="3600" b="1" noProof="1"/>
            </a:br>
            <a:endParaRPr lang="en-US" sz="3600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2707-9355-9E2B-0E57-5AA6A315C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9878"/>
            <a:ext cx="10058400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noProof="1">
                <a:latin typeface="Arial" panose="020B0604020202020204" pitchFamily="34" charset="0"/>
                <a:cs typeface="Arial" panose="020B0604020202020204" pitchFamily="34" charset="0"/>
              </a:rPr>
              <a:t>Chinook MySQL database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noProof="1">
                <a:latin typeface="Arial" panose="020B0604020202020204" pitchFamily="34" charset="0"/>
                <a:cs typeface="Arial" panose="020B0604020202020204" pitchFamily="34" charset="0"/>
              </a:rPr>
              <a:t>Tools used: MySQL Workbench, Excel, Pivot Tables, PowerPoint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noProof="1">
                <a:latin typeface="Arial" panose="020B0604020202020204" pitchFamily="34" charset="0"/>
                <a:cs typeface="Arial" panose="020B0604020202020204" pitchFamily="34" charset="0"/>
              </a:rPr>
              <a:t>Tables used: Customers, Invoice, Invoice Line, Tracks, Artists, Albums, Genres, Employee, Playlist, Playlist track, Media Type.</a:t>
            </a:r>
          </a:p>
          <a:p>
            <a:pPr marL="0" indent="0">
              <a:buNone/>
            </a:pPr>
            <a:endParaRPr lang="en-US" sz="16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4" descr="MySQL logo PNG transparent image download, size: 300x300px">
            <a:extLst>
              <a:ext uri="{FF2B5EF4-FFF2-40B4-BE49-F238E27FC236}">
                <a16:creationId xmlns:a16="http://schemas.microsoft.com/office/drawing/2014/main" id="{50FA2C46-44B4-8DB4-6016-D5CFFAB15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02" y="4129544"/>
            <a:ext cx="1300932" cy="130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ow to Create a Database in MySQL with MySQL Workbench">
            <a:extLst>
              <a:ext uri="{FF2B5EF4-FFF2-40B4-BE49-F238E27FC236}">
                <a16:creationId xmlns:a16="http://schemas.microsoft.com/office/drawing/2014/main" id="{5D0BDC41-F933-788C-A342-89C13B18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9" y="4161130"/>
            <a:ext cx="1898232" cy="118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24712711-92C7-7DFE-3ED3-22DF202FC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840" y="4099334"/>
            <a:ext cx="1377722" cy="130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เทคนิคง่ายๆ กับการใช้ Excel :การใช้งาน PivotTable - Blog NSTRU">
            <a:extLst>
              <a:ext uri="{FF2B5EF4-FFF2-40B4-BE49-F238E27FC236}">
                <a16:creationId xmlns:a16="http://schemas.microsoft.com/office/drawing/2014/main" id="{FF42C433-0094-88FA-55CB-C4E906556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428" y="4328534"/>
            <a:ext cx="1628444" cy="81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Charts In Excel | Excel Charts - Pie, Column, Bar &amp; Line Chart | Excel  Charts Tutorial | Simplilearn - YouTube">
            <a:extLst>
              <a:ext uri="{FF2B5EF4-FFF2-40B4-BE49-F238E27FC236}">
                <a16:creationId xmlns:a16="http://schemas.microsoft.com/office/drawing/2014/main" id="{AF2A9F5F-B96C-1CFE-AD1A-68CD18B2A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738" y="4242946"/>
            <a:ext cx="1801559" cy="101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BF13C364-0355-AAD3-BD71-5655B92A3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 bwMode="auto">
          <a:xfrm>
            <a:off x="9879319" y="4122924"/>
            <a:ext cx="1457735" cy="141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46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7;p20">
            <a:extLst>
              <a:ext uri="{FF2B5EF4-FFF2-40B4-BE49-F238E27FC236}">
                <a16:creationId xmlns:a16="http://schemas.microsoft.com/office/drawing/2014/main" id="{CAA53929-D480-353A-B5C9-74F247CCA6CD}"/>
              </a:ext>
            </a:extLst>
          </p:cNvPr>
          <p:cNvPicPr preferRelativeResize="0">
            <a:picLocks noGr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716" y="98323"/>
            <a:ext cx="7639665" cy="61746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383888-4AA3-889D-03D8-22DF4D1D1642}"/>
              </a:ext>
            </a:extLst>
          </p:cNvPr>
          <p:cNvSpPr txBox="1"/>
          <p:nvPr/>
        </p:nvSpPr>
        <p:spPr>
          <a:xfrm>
            <a:off x="7344697" y="481781"/>
            <a:ext cx="460149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u="sng" noProof="1">
                <a:solidFill>
                  <a:schemeClr val="accent3"/>
                </a:solidFill>
                <a:latin typeface="+mj-lt"/>
              </a:rPr>
              <a:t>Database Schema</a:t>
            </a:r>
          </a:p>
        </p:txBody>
      </p:sp>
      <p:pic>
        <p:nvPicPr>
          <p:cNvPr id="4098" name="Picture 2" descr="Chinook Music Database – Franchi Uzcategui">
            <a:extLst>
              <a:ext uri="{FF2B5EF4-FFF2-40B4-BE49-F238E27FC236}">
                <a16:creationId xmlns:a16="http://schemas.microsoft.com/office/drawing/2014/main" id="{E81A723C-292C-2B6C-7EFC-CE64016CCE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3" b="16564"/>
          <a:stretch>
            <a:fillRect/>
          </a:stretch>
        </p:blipFill>
        <p:spPr bwMode="auto">
          <a:xfrm>
            <a:off x="7875527" y="1542347"/>
            <a:ext cx="3539836" cy="168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55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1F65-854B-C8E7-8D9F-1FC0114F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1">
                <a:solidFill>
                  <a:schemeClr val="accent3"/>
                </a:solidFill>
              </a:rPr>
              <a:t>Data Quality Check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485D89-96F7-EEED-E620-45576E5187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40781"/>
            <a:ext cx="7793993" cy="373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sz="160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Missing values (example: NULL in state)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tx1"/>
                </a:solidFill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 Identify and address missing values and duplicates to ensure data integrity.</a:t>
            </a:r>
            <a:endParaRPr kumimoji="0" lang="en-US" sz="160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sz="160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Handled duplicates and nulls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sz="1600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Ensured relational integrity across joins</a:t>
            </a:r>
            <a:endParaRPr lang="en-US" sz="16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Checked for NULLs and duplicates in key tables like customer, track, and invoice.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Found no critical missing values in customer names or invoice totals.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Minor duplicates found in track names but tied to different albums/artists.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orphaned records detected (foreign key integrity intact).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Overall, the database is clean and reliable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i="0" u="none" strike="noStrike" cap="none" normalizeH="0" baseline="0" noProof="1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42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0E1A205-7BAE-8BD3-32BE-D6B9543AE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6101451"/>
              </p:ext>
            </p:extLst>
          </p:nvPr>
        </p:nvGraphicFramePr>
        <p:xfrm>
          <a:off x="405826" y="1529340"/>
          <a:ext cx="6181787" cy="3401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2CADB5-B863-5BF8-19C4-73309A4A9F87}"/>
              </a:ext>
            </a:extLst>
          </p:cNvPr>
          <p:cNvSpPr txBox="1"/>
          <p:nvPr/>
        </p:nvSpPr>
        <p:spPr>
          <a:xfrm>
            <a:off x="6862916" y="1529340"/>
            <a:ext cx="481780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Revenue and invoice data was grouped by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billing country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state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and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city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using the invoice table.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Czech Republic (Prague)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generated the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highest revenue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at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$273.24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from 30 invoices.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Other top-performing cities include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Mountain View (USA)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and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London (UK)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Notable European markets like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Berlin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Paris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and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Dublin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also show strong revenue.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This breakdown helps identify </a:t>
            </a: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geographic hotspots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for physical music sales and strategic market expansion.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7302D-BD92-1DF8-46B9-007119665636}"/>
              </a:ext>
            </a:extLst>
          </p:cNvPr>
          <p:cNvSpPr txBox="1"/>
          <p:nvPr/>
        </p:nvSpPr>
        <p:spPr>
          <a:xfrm>
            <a:off x="405826" y="254337"/>
            <a:ext cx="9819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1">
                <a:solidFill>
                  <a:schemeClr val="accent3"/>
                </a:solidFill>
                <a:latin typeface="+mj-lt"/>
              </a:rPr>
              <a:t>Total Revenue and Invoice Count by Region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D49C9-F8D0-EE7B-6631-99207B058612}"/>
              </a:ext>
            </a:extLst>
          </p:cNvPr>
          <p:cNvSpPr txBox="1"/>
          <p:nvPr/>
        </p:nvSpPr>
        <p:spPr>
          <a:xfrm>
            <a:off x="2281083" y="4920978"/>
            <a:ext cx="3814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u="sng" noProof="1">
                <a:latin typeface="+mj-lt"/>
                <a:ea typeface="Cambria" panose="02040503050406030204" pitchFamily="18" charset="0"/>
              </a:rPr>
              <a:t>Custom Combination Chart</a:t>
            </a:r>
          </a:p>
        </p:txBody>
      </p:sp>
    </p:spTree>
    <p:extLst>
      <p:ext uri="{BB962C8B-B14F-4D97-AF65-F5344CB8AC3E}">
        <p14:creationId xmlns:p14="http://schemas.microsoft.com/office/powerpoint/2010/main" val="2066467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2E5C9-910D-5835-A721-FBF0E9E8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1" y="306268"/>
            <a:ext cx="6812771" cy="1450757"/>
          </a:xfrm>
        </p:spPr>
        <p:txBody>
          <a:bodyPr>
            <a:normAutofit/>
          </a:bodyPr>
          <a:lstStyle/>
          <a:p>
            <a:r>
              <a:rPr lang="en-US" sz="3600" noProof="1">
                <a:solidFill>
                  <a:schemeClr val="accent3"/>
                </a:solidFill>
              </a:rPr>
              <a:t>Top-Selling Tracks, Artists &amp; Genres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61E844-EBA0-B03C-F308-86D444744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082766"/>
              </p:ext>
            </p:extLst>
          </p:nvPr>
        </p:nvGraphicFramePr>
        <p:xfrm>
          <a:off x="1094841" y="2054941"/>
          <a:ext cx="4163294" cy="3982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5E1F61-9992-9F9F-71AD-6A9B74DC51B9}"/>
              </a:ext>
            </a:extLst>
          </p:cNvPr>
          <p:cNvSpPr txBox="1"/>
          <p:nvPr/>
        </p:nvSpPr>
        <p:spPr>
          <a:xfrm>
            <a:off x="5378246" y="2337814"/>
            <a:ext cx="6233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Insights: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Genre Popularity</a:t>
            </a:r>
            <a:r>
              <a:rPr lang="en-US" sz="1600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Rock is the dominant genre with the highest total sales figures. The top three albums all belong to this genre, indicating a strong market preference for Rock music in the USA.</a:t>
            </a:r>
          </a:p>
          <a:p>
            <a:pPr lvl="0"/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Sales Figures</a:t>
            </a:r>
            <a:r>
              <a:rPr lang="en-US" sz="1600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selected albums have the highest total genre sales, making them strong candidates for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Given the strong sales performance of these albums in the Rock genre, they should be prioritized for advertising and promotion in the USA to capitalize on their popularity.</a:t>
            </a: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Rock Music - Compilation by Various Artists | Spotify">
            <a:extLst>
              <a:ext uri="{FF2B5EF4-FFF2-40B4-BE49-F238E27FC236}">
                <a16:creationId xmlns:a16="http://schemas.microsoft.com/office/drawing/2014/main" id="{3F5D3465-FDD5-FB36-82A1-9A88BC670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1318" y="100976"/>
            <a:ext cx="2310580" cy="231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55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558A7E-9C3C-558D-0292-7D517C50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4" y="1098334"/>
            <a:ext cx="6449960" cy="38669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4F7454-10FC-37FA-B377-0E01063F4786}"/>
              </a:ext>
            </a:extLst>
          </p:cNvPr>
          <p:cNvSpPr txBox="1"/>
          <p:nvPr/>
        </p:nvSpPr>
        <p:spPr>
          <a:xfrm>
            <a:off x="683691" y="216310"/>
            <a:ext cx="9384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noProof="1">
                <a:solidFill>
                  <a:schemeClr val="accent3"/>
                </a:solidFill>
                <a:latin typeface="+mj-lt"/>
              </a:rPr>
              <a:t>Comparison with the USA 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73C56-122E-1C69-2BE5-1E50DDB8041D}"/>
              </a:ext>
            </a:extLst>
          </p:cNvPr>
          <p:cNvSpPr txBox="1"/>
          <p:nvPr/>
        </p:nvSpPr>
        <p:spPr>
          <a:xfrm>
            <a:off x="6979041" y="178382"/>
            <a:ext cx="498495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Commonalities:</a:t>
            </a:r>
            <a:endParaRPr lang="en-US" sz="1600" noProof="1">
              <a:solidFill>
                <a:schemeClr val="accent3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Rock dominates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in almost all the countries listed, indicating a strong global preference for Rock music outside the USA.</a:t>
            </a:r>
          </a:p>
          <a:p>
            <a:pPr lvl="0"/>
            <a:r>
              <a:rPr lang="en-US" sz="1600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Metal and Alternative &amp; Punk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are also popular in Brazil, showing a more diverse taste in music genres in that country.</a:t>
            </a:r>
          </a:p>
          <a:p>
            <a:pPr lvl="0"/>
            <a:r>
              <a:rPr lang="en-US" sz="1600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Rock is the top genre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in every country mentioned except for the specific instances where Metal or Alternative &amp; Punk are highlighted.</a:t>
            </a:r>
          </a:p>
          <a:p>
            <a:r>
              <a:rPr lang="en-US" sz="1600" b="1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Differences: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Brazil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stands out with significant sales in both Alternative &amp; Punk and Metal genres, in addition to Rock, showing a more varied musical taste compared to other countries.</a:t>
            </a:r>
          </a:p>
          <a:p>
            <a:pPr lvl="0"/>
            <a:r>
              <a:rPr lang="en-US" sz="1600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Metal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has a notable presence in Canada and Brazil but does not appear as a top genre in other countries listed.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sales volume for genres other than Rock is generally lower in all non-USA countries, </a:t>
            </a:r>
            <a:r>
              <a:rPr lang="en-US" sz="1600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indicating Rock’s dominance.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210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D52E18-88CC-560A-A713-C530BC71D4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4856" y="1388805"/>
            <a:ext cx="5836112" cy="34560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6CB729-1837-0938-F6A1-A8D1B3D6B999}"/>
              </a:ext>
            </a:extLst>
          </p:cNvPr>
          <p:cNvSpPr txBox="1"/>
          <p:nvPr/>
        </p:nvSpPr>
        <p:spPr>
          <a:xfrm>
            <a:off x="6744929" y="1280651"/>
            <a:ext cx="515210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Insights: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Metal and Rock are the most frequently purchased together, indicating a strong overlap in fan base.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Alternative &amp; Punk and Rock also show significant co-purchase rates, suggesting shared listener preferences.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Latin and R&amp;B/Soul genres have notable pairings with Rock, pointing to potential opportunities for cross-genre promotions.</a:t>
            </a:r>
          </a:p>
          <a:p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</a:t>
            </a:r>
          </a:p>
          <a:p>
            <a:r>
              <a:rPr lang="en-US" sz="1600" b="1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Recommendations: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Bundle Offers: Combine Metal and Rock albums, along with Alternative &amp; Punk with Rock for popular bundles.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Cross-Promotions: Promote Metal albums to Rock fans and vice versa, leveraging their shared appeal.</a:t>
            </a: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63AAA-7C07-8EF5-7A2E-97FD87935B9A}"/>
              </a:ext>
            </a:extLst>
          </p:cNvPr>
          <p:cNvSpPr txBox="1"/>
          <p:nvPr/>
        </p:nvSpPr>
        <p:spPr>
          <a:xfrm>
            <a:off x="707923" y="265471"/>
            <a:ext cx="5132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noProof="1">
                <a:solidFill>
                  <a:schemeClr val="accent3"/>
                </a:solidFill>
                <a:latin typeface="+mj-lt"/>
              </a:rPr>
              <a:t>Genre Purchased Together</a:t>
            </a:r>
          </a:p>
        </p:txBody>
      </p:sp>
    </p:spTree>
    <p:extLst>
      <p:ext uri="{BB962C8B-B14F-4D97-AF65-F5344CB8AC3E}">
        <p14:creationId xmlns:p14="http://schemas.microsoft.com/office/powerpoint/2010/main" val="148914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21860C-11CF-8682-CB93-E54143777B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307883" y="1745494"/>
            <a:ext cx="5648142" cy="356457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7AA25D-FE03-017C-0AC6-D3E7F5262CB0}"/>
              </a:ext>
            </a:extLst>
          </p:cNvPr>
          <p:cNvSpPr txBox="1"/>
          <p:nvPr/>
        </p:nvSpPr>
        <p:spPr>
          <a:xfrm>
            <a:off x="447858" y="1278194"/>
            <a:ext cx="564814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Insights: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Green Day and Led Zeppelin are frequently purchased together, indicating strong cross-genre appeal.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Nirvana and The Rolling Stones, as well as Eric Clapton and Nirvana, show notable co-purchase patterns, suggesting these artist pairings resonate with similar audiences.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Artists like System Of A Down and Foo Fighters, and Queen and The Police, also have significant co-purchases, highlighting popular combinations among listeners.</a:t>
            </a:r>
          </a:p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Recommendations: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Artist Pairing Promotions: Offer discounts on Green Day and Led Zeppelin albums purchased together and apply similar deals to pairings like Eric Clapton and Nirvana.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Playlist Curation: Create playlists featuring frequently paired artists to appeal to similar tastes.</a:t>
            </a: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D9CF7-703C-F718-BFB3-71DB502BB72A}"/>
              </a:ext>
            </a:extLst>
          </p:cNvPr>
          <p:cNvSpPr txBox="1"/>
          <p:nvPr/>
        </p:nvSpPr>
        <p:spPr>
          <a:xfrm>
            <a:off x="580103" y="157316"/>
            <a:ext cx="6145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noProof="1">
                <a:solidFill>
                  <a:schemeClr val="accent3"/>
                </a:solidFill>
                <a:latin typeface="+mj-lt"/>
              </a:rPr>
              <a:t>Artists Purchased Together</a:t>
            </a:r>
          </a:p>
        </p:txBody>
      </p:sp>
    </p:spTree>
    <p:extLst>
      <p:ext uri="{BB962C8B-B14F-4D97-AF65-F5344CB8AC3E}">
        <p14:creationId xmlns:p14="http://schemas.microsoft.com/office/powerpoint/2010/main" val="1674047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C74035-50C0-9F7C-FD71-47EF9CF441A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8688" y="1869048"/>
            <a:ext cx="6601544" cy="36665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9EFE51-15AE-B25C-A1E3-2126D41722E3}"/>
              </a:ext>
            </a:extLst>
          </p:cNvPr>
          <p:cNvSpPr txBox="1"/>
          <p:nvPr/>
        </p:nvSpPr>
        <p:spPr>
          <a:xfrm>
            <a:off x="7325032" y="1317035"/>
            <a:ext cx="461542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Insights: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"Mezmerize" is a popular album paired with several others, including "Are You Experienced?" and "The Police Greatest Hits," indicating it resonates well with fans of diverse classic rock albums.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Albums like "The Police Greatest Hits" and "My Generation - The Very Best Of The Who" frequently appear together, suggesting a strong preference for classic rock compilations.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"Big Ones" and "Back to Black" also show notable co-purchase rates, highlighting popular cross-genre interests among listeners.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Album Pair Deals: Offer combined deals on album pairs like "Are You Experienced?" and "Mezmerize."</a:t>
            </a:r>
          </a:p>
          <a:p>
            <a:pPr lvl="0"/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Special Editions: Create box sets with frequently paired albums to attract collectors.</a:t>
            </a:r>
          </a:p>
          <a:p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629A9-45B7-CA1A-76D5-F4B9C5EC1253}"/>
              </a:ext>
            </a:extLst>
          </p:cNvPr>
          <p:cNvSpPr txBox="1"/>
          <p:nvPr/>
        </p:nvSpPr>
        <p:spPr>
          <a:xfrm>
            <a:off x="418688" y="441561"/>
            <a:ext cx="6434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noProof="1">
                <a:solidFill>
                  <a:schemeClr val="accent3"/>
                </a:solidFill>
                <a:latin typeface="+mj-lt"/>
              </a:rPr>
              <a:t>Albums Purchased Together</a:t>
            </a:r>
          </a:p>
        </p:txBody>
      </p:sp>
    </p:spTree>
    <p:extLst>
      <p:ext uri="{BB962C8B-B14F-4D97-AF65-F5344CB8AC3E}">
        <p14:creationId xmlns:p14="http://schemas.microsoft.com/office/powerpoint/2010/main" val="34274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164BFE-924F-8C8D-CC07-94A0A735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62" y="964052"/>
            <a:ext cx="5561126" cy="3365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F7F4FE-8B28-9B00-B5E1-75E83B65274D}"/>
              </a:ext>
            </a:extLst>
          </p:cNvPr>
          <p:cNvSpPr txBox="1"/>
          <p:nvPr/>
        </p:nvSpPr>
        <p:spPr>
          <a:xfrm>
            <a:off x="537823" y="246882"/>
            <a:ext cx="1139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noProof="1">
                <a:solidFill>
                  <a:schemeClr val="accent3"/>
                </a:solidFill>
                <a:latin typeface="+mj-lt"/>
              </a:rPr>
              <a:t>Comparing Churn Rate with Average Order value by Country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05690-764E-0341-1F39-CBF5AC7C2733}"/>
              </a:ext>
            </a:extLst>
          </p:cNvPr>
          <p:cNvSpPr txBox="1"/>
          <p:nvPr/>
        </p:nvSpPr>
        <p:spPr>
          <a:xfrm>
            <a:off x="6118616" y="1027788"/>
            <a:ext cx="58993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Churn Rates: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 Churn Regions: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São José dos Campos, Montréal, São Paulo, Rio de Janeiro, Brasília, Edmonton, Mountain View, and Redmond.</a:t>
            </a:r>
          </a:p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Insight: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 churn suggests a need for better customer retention strategies, such as loyalty programs and enhanced support.</a:t>
            </a:r>
          </a:p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Correlation with Local Factors: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Affluent Areas: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 spending and frequency suggest higher income and better economic conditions.</a:t>
            </a:r>
          </a:p>
          <a:p>
            <a:pPr lvl="0"/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Emerging Markets: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Moderate spending with high frequency points to budget-conscious middle-class consumers.</a:t>
            </a:r>
          </a:p>
          <a:p>
            <a:pPr lvl="0"/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 Churn in Competitive Areas: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Competition and high living costs may affect loyalty.</a:t>
            </a: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0253F-77F0-28AF-768D-D176D40E76CA}"/>
              </a:ext>
            </a:extLst>
          </p:cNvPr>
          <p:cNvSpPr txBox="1"/>
          <p:nvPr/>
        </p:nvSpPr>
        <p:spPr>
          <a:xfrm>
            <a:off x="449333" y="4813440"/>
            <a:ext cx="115686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Recommendations: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/>
            <a:r>
              <a:rPr lang="en-US" sz="1600" b="1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High-Value Areas: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Offer exclusive products and premium pricing.</a:t>
            </a:r>
          </a:p>
          <a:p>
            <a:pPr lvl="0"/>
            <a:r>
              <a:rPr lang="en-US" sz="1600" b="1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Moderate Areas: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Enhance engagement with loyalty programs and value offers.</a:t>
            </a:r>
          </a:p>
          <a:p>
            <a:pPr lvl="0"/>
            <a:r>
              <a:rPr lang="en-US" sz="1600" b="1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 Churn Areas: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Address churn with discounts, improved service, and feedback collection.</a:t>
            </a: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7B8BB-33C7-339D-4BE0-A2C43B5DC31B}"/>
              </a:ext>
            </a:extLst>
          </p:cNvPr>
          <p:cNvSpPr txBox="1"/>
          <p:nvPr/>
        </p:nvSpPr>
        <p:spPr>
          <a:xfrm>
            <a:off x="1681316" y="4371088"/>
            <a:ext cx="4807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u="sng" noProof="1">
                <a:latin typeface="+mj-lt"/>
              </a:rPr>
              <a:t>Scatter plot graph</a:t>
            </a:r>
          </a:p>
        </p:txBody>
      </p:sp>
    </p:spTree>
    <p:extLst>
      <p:ext uri="{BB962C8B-B14F-4D97-AF65-F5344CB8AC3E}">
        <p14:creationId xmlns:p14="http://schemas.microsoft.com/office/powerpoint/2010/main" val="2883349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EEF96F-9196-5783-6080-705C28EA3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04" y="2420881"/>
            <a:ext cx="6234948" cy="348062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770CA5-888B-FC8E-77E3-4BE02EB7E5FC}"/>
              </a:ext>
            </a:extLst>
          </p:cNvPr>
          <p:cNvSpPr txBox="1"/>
          <p:nvPr/>
        </p:nvSpPr>
        <p:spPr>
          <a:xfrm>
            <a:off x="508327" y="186813"/>
            <a:ext cx="10808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noProof="1">
                <a:solidFill>
                  <a:schemeClr val="accent3"/>
                </a:solidFill>
                <a:latin typeface="+mj-lt"/>
              </a:rPr>
              <a:t>Analyzing Customer Life-Time Value(CLV) by comparing actual vs Predicted CLV with line graph.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E5379-C369-A39F-9119-32168A50398B}"/>
              </a:ext>
            </a:extLst>
          </p:cNvPr>
          <p:cNvSpPr txBox="1"/>
          <p:nvPr/>
        </p:nvSpPr>
        <p:spPr>
          <a:xfrm>
            <a:off x="6761155" y="2218139"/>
            <a:ext cx="53556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Insights: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Customer Segments and Predicted Lifetime Value: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 Lifetime Value Customers: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Example: František Wichterlová from Prague. High spending and average order value. Need targeted retention strategies.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Low Lifetime Value Customers: </a:t>
            </a: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Example: Mark Philips from Edmonton. Lower spending and order values. More price-sensitive or less engaged.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Observed Purchase Patterns: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Higher Engagement: Frequent purchases reduce churn risk.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Lower Order Value: Customers with low average order values but long tenure may be at risk if they don’t perceive value.</a:t>
            </a:r>
          </a:p>
          <a:p>
            <a:pPr lvl="0"/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0F625-9A81-2C0D-2669-D4736D7211E1}"/>
              </a:ext>
            </a:extLst>
          </p:cNvPr>
          <p:cNvSpPr txBox="1"/>
          <p:nvPr/>
        </p:nvSpPr>
        <p:spPr>
          <a:xfrm>
            <a:off x="626809" y="1387142"/>
            <a:ext cx="11489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Identifying churn patterns and characteristics helps in creating effective retention strategies, enhancing customer loyalty, and reducing churn.</a:t>
            </a:r>
          </a:p>
          <a:p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069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E318A7-35CE-9208-385B-524FB43C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593" y="85439"/>
            <a:ext cx="8718709" cy="34443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9AB1D3-5E9C-032C-3007-D63EAB6AD845}"/>
              </a:ext>
            </a:extLst>
          </p:cNvPr>
          <p:cNvSpPr txBox="1"/>
          <p:nvPr/>
        </p:nvSpPr>
        <p:spPr>
          <a:xfrm>
            <a:off x="727587" y="3559277"/>
            <a:ext cx="109334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Insights:</a:t>
            </a: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Czech Republic has the highest average amount spent per customer at $136.62, indicating high customer value in this region.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The USA has the largest customer base with 13 customers but a lower average spend of $80.04, suggesting a broad but less intense engagement.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Customers from India, Portugal, and Brazil show moderate average spending, ranging from $85.54 to $92.57, with varied customer bases.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Countries like Argentina and Denmark have the lowest average spend per customer, around $40, reflecting limited purchasing activity.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noProof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Countries with only one customer, like Ireland and Spain, have relatively high average spends, highlighting significant individual contributions.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noProof="1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359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77508C-D15D-D130-002F-64BC7C0C8E79}"/>
              </a:ext>
            </a:extLst>
          </p:cNvPr>
          <p:cNvSpPr txBox="1"/>
          <p:nvPr/>
        </p:nvSpPr>
        <p:spPr>
          <a:xfrm>
            <a:off x="904568" y="424934"/>
            <a:ext cx="9419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u="sng" dirty="0">
                <a:solidFill>
                  <a:schemeClr val="accent3"/>
                </a:solidFill>
                <a:latin typeface="+mj-lt"/>
              </a:rPr>
              <a:t>Conclusion &amp; Strategic 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7B9E-1B8E-C5A7-C266-06BC93244698}"/>
              </a:ext>
            </a:extLst>
          </p:cNvPr>
          <p:cNvSpPr txBox="1"/>
          <p:nvPr/>
        </p:nvSpPr>
        <p:spPr>
          <a:xfrm>
            <a:off x="904568" y="1602658"/>
            <a:ext cx="105401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Rock is the highest-grossing genre globally and in the USA.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Long-term customers contribute significantly more to revenue than short-term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High churn detected in several low-engagement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Top customers are concentrated in a few key markets (e.g., Czech Republic, Ireland).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accent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Recommendations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Focus promotions on top-selling albums in Rock, Alternative &amp; Metal genres.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Re-engage churned customers through targeted campaigns in high-churn countries.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Prioritize long-term customer retention through loyalty rewards and personalized offers.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Monitor CLV and churn trends monthly to proactively target at-risk segments.</a:t>
            </a:r>
            <a:endParaRPr lang="en-IN" sz="16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600" i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“Data-driven strategies can maximize sales and enhance customer loyalty for Chinook.”</a:t>
            </a:r>
            <a:endParaRPr lang="en-IN" sz="1600" i="1" dirty="0">
              <a:solidFill>
                <a:schemeClr val="accent3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959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5D983-C196-C098-D4B4-27F7E011F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0" y="-593418"/>
            <a:ext cx="12192000" cy="66929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352F7D-F6AE-12EC-0BE3-A55A1862BD02}"/>
              </a:ext>
            </a:extLst>
          </p:cNvPr>
          <p:cNvSpPr/>
          <p:nvPr/>
        </p:nvSpPr>
        <p:spPr>
          <a:xfrm>
            <a:off x="6971071" y="4650658"/>
            <a:ext cx="4709652" cy="2005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nk You</a:t>
            </a: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2056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377</TotalTime>
  <Words>1524</Words>
  <Application>Microsoft Office PowerPoint</Application>
  <PresentationFormat>Widescreen</PresentationFormat>
  <Paragraphs>129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Retrospect</vt:lpstr>
      <vt:lpstr>CHINOOK MUSIC STORE ANALYSIS</vt:lpstr>
      <vt:lpstr>Agenda</vt:lpstr>
      <vt:lpstr>Problem Statement</vt:lpstr>
      <vt:lpstr>       Dataset &amp; Tools </vt:lpstr>
      <vt:lpstr>PowerPoint Presentation</vt:lpstr>
      <vt:lpstr>Data Quality Check</vt:lpstr>
      <vt:lpstr>PowerPoint Presentation</vt:lpstr>
      <vt:lpstr>Top-Selling Tracks, Artists &amp; Genres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Afreen Qureshi</dc:creator>
  <cp:lastModifiedBy>LOKESH REDDY CHILUKA</cp:lastModifiedBy>
  <cp:revision>7</cp:revision>
  <dcterms:created xsi:type="dcterms:W3CDTF">2025-07-15T13:41:28Z</dcterms:created>
  <dcterms:modified xsi:type="dcterms:W3CDTF">2026-03-22T06:39:04Z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